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-96" y="-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836C5-5A68-4FA7-B849-A9359B27BFC2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DDFAB-9D96-485C-8BFD-3B9B80C043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4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슬라이드에서는 발표의 중심 질문을 제시한다. 기업은행을 단순한 시중은행이 아니라 중소기업 성장과 국가 경제 발전을 지원하는 정책금융기관으로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전체 구조를 먼저 보여준다. 이후 슬라이드는 기업은행의 설립 배경, 고객층, 서비스, 최근 이슈, 시장 분석, 전망과 취업 역량 순서로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기업은행은 정식 명칭이 중소기업은행이며 1961년에 설립된 국책은행이다. 국민·신한·하나·우리은행 같은 시중은행과 경쟁하면서도 중소기업 지원이라는 정책금융 역할을 함께 수행한다.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설립 배경은 1960년대 산업화 초기의 금융 접근성 문제다. 당시 중소기업은 자금과 담보가 부족했고 시중 금융 접근이 어려웠다. 기업은행은 이런 문제를 해결하기 위해 만들어졌다.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고객은 중소기업이지만 개인 고객과 외국인 고객도 중요해지고 있다. 특히 i-ONE Bank Global은 다국어 지원과 해외송금 기능을 통해 외국인 고객의 금융 접근성을 높인다.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 금융에서는 예금, 적금, 대출 상품을 제공한다. 디지털 서비스는 i-ONE Bank가 중심이며, 외국인 고객을 위한 i-ONE Bank Global도 핵심 서비스다.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기업 금융은 기업은행의 핵심 경쟁력이다. 대표 서비스는 운전자금 대출, 시설자금 대출, 수출금융, 창업기업 지원, ESG 금융이다.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IBK창공은 창업기업 지원 플랫폼이다. 투자 연계, 멘토링, 사무공간, 컨설팅을 제공하며, 2025년에도 전국 6개 센터에서 스타트업을 선발해 지원하고 월드IT쇼에서 28개 스타트업의 홍보를 지원했다.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최근 이슈는 IBK가치성장대출 출시, 스타트업 육성 확대, 디지털 금융 강화로 정리할 수 있다. 가치성장대출은 1조 원 규모이며 최대 1.3%포인트 금리 감면을 제공하는 상품으로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기업은행은 미국, 중국, 베트남, 인도네시아, 유럽 등 해외 네트워크를 통해 해외 진출 한국 기업을 지원한다. 시중은행과 경쟁하지만 기업금융과 정책금융 기능에서 차별화된다.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 의견으로 기업은행은 단순한 은행이 아니라 중소기업 성장과 국가 경제 발전을 지원하는 기관이라고 평가한다. 향후에는 디지털 금융과 글로벌 시장 확대가 핵심 성장 과제다.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기업은행 취업을 위해 필요한 역량을 정리한다. 금융 지식, 디지털 역량, 의사소통 능력, 문제 해결 능력, 윤리 의식과 협업 능력이 중요하다. 결론 문장을 읽고 발표를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modern_office_scene_a_bright_corporate_meeti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E5F">
              <a:alpha val="82000"/>
            </a:srgbClr>
          </a:solidFill>
          <a:ln w="12700">
            <a:solidFill>
              <a:srgbClr val="052E5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172200" cy="6858000"/>
          </a:xfrm>
          <a:prstGeom prst="rect">
            <a:avLst/>
          </a:prstGeom>
          <a:solidFill>
            <a:srgbClr val="052E5F">
              <a:alpha val="95000"/>
            </a:srgbClr>
          </a:solidFill>
          <a:ln w="12700">
            <a:solidFill>
              <a:srgbClr val="052E5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6172200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502920"/>
            <a:ext cx="212140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/mnt/data/ibk_officia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7" y="621792"/>
            <a:ext cx="1733702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" y="1554480"/>
            <a:ext cx="4617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3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</a:t>
            </a:r>
            <a:r>
              <a:rPr lang="en-US" sz="3600" b="1" dirty="0" err="1" smtClean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기업은행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 err="1" smtClean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분석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658368" y="27889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중소기업 금융을 중심으로 보는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정책금융기관의 역할과 성장 전략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58368" y="3758184"/>
            <a:ext cx="1188720" cy="0"/>
          </a:xfrm>
          <a:prstGeom prst="line">
            <a:avLst/>
          </a:prstGeom>
          <a:noFill/>
          <a:ln w="26670">
            <a:solidFill>
              <a:srgbClr val="00A3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4105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 smtClean="0">
                <a:solidFill>
                  <a:schemeClr val="bg1"/>
                </a:solidFill>
              </a:rPr>
              <a:t>정상원 </a:t>
            </a:r>
            <a:r>
              <a:rPr lang="en-US" altLang="ko-KR" sz="1000" dirty="0">
                <a:solidFill>
                  <a:schemeClr val="bg1"/>
                </a:solidFill>
              </a:rPr>
              <a:t>2022213838</a:t>
            </a:r>
          </a:p>
          <a:p>
            <a:pPr marL="0" indent="0">
              <a:buNone/>
            </a:pPr>
            <a:r>
              <a:rPr lang="ko-KR" altLang="en-US" sz="1000" dirty="0" smtClean="0">
                <a:solidFill>
                  <a:schemeClr val="bg1"/>
                </a:solidFill>
              </a:rPr>
              <a:t>박근우 </a:t>
            </a:r>
            <a:r>
              <a:rPr lang="en-US" altLang="ko-KR" sz="1000" dirty="0" smtClean="0">
                <a:solidFill>
                  <a:schemeClr val="bg1"/>
                </a:solidFill>
              </a:rPr>
              <a:t>2021213904</a:t>
            </a:r>
          </a:p>
          <a:p>
            <a:r>
              <a:rPr lang="ko-KR" altLang="en-US" sz="1000" dirty="0" smtClean="0">
                <a:solidFill>
                  <a:schemeClr val="bg1"/>
                </a:solidFill>
              </a:rPr>
              <a:t>정의석 </a:t>
            </a:r>
            <a:r>
              <a:rPr lang="en-US" altLang="ko-KR" sz="1000" dirty="0">
                <a:solidFill>
                  <a:schemeClr val="bg1"/>
                </a:solidFill>
              </a:rPr>
              <a:t>2022213824</a:t>
            </a:r>
            <a:endParaRPr lang="en-US" altLang="ko-KR" sz="10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658368" y="6071616"/>
            <a:ext cx="7132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CDE6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질문: 기업은행은 왜 존재하며, 앞으로 어디에서 성장할 것인가?</a:t>
            </a:r>
            <a:endParaRPr lang="en-US" sz="1020" dirty="0"/>
          </a:p>
        </p:txBody>
      </p:sp>
      <p:sp>
        <p:nvSpPr>
          <p:cNvPr id="13" name="Text 9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8E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8E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D8E8FF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pic>
        <p:nvPicPr>
          <p:cNvPr id="3" name="Image 0" descr="/mnt/data/ibk_offici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48635"/>
            <a:ext cx="1645920" cy="3646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4023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640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발표</a:t>
            </a:r>
            <a:r>
              <a:rPr lang="en-US" sz="250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2500" b="1" dirty="0" smtClean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순서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03504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148840" y="3291840"/>
            <a:ext cx="1371600" cy="0"/>
          </a:xfrm>
          <a:prstGeom prst="line">
            <a:avLst/>
          </a:prstGeom>
          <a:noFill/>
          <a:ln w="19050">
            <a:solidFill>
              <a:srgbClr val="A9C4DE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480560" y="3291840"/>
            <a:ext cx="1371600" cy="0"/>
          </a:xfrm>
          <a:prstGeom prst="line">
            <a:avLst/>
          </a:prstGeom>
          <a:noFill/>
          <a:ln w="19050">
            <a:solidFill>
              <a:srgbClr val="A9C4DE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812280" y="3291840"/>
            <a:ext cx="1371600" cy="0"/>
          </a:xfrm>
          <a:prstGeom prst="line">
            <a:avLst/>
          </a:prstGeom>
          <a:noFill/>
          <a:ln w="19050">
            <a:solidFill>
              <a:srgbClr val="A9C4DE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9144000" y="3291840"/>
            <a:ext cx="1371600" cy="0"/>
          </a:xfrm>
          <a:prstGeom prst="line">
            <a:avLst/>
          </a:prstGeom>
          <a:noFill/>
          <a:ln w="19050">
            <a:solidFill>
              <a:srgbClr val="A9C4DE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60120" y="2761488"/>
            <a:ext cx="1060704" cy="1060704"/>
          </a:xfrm>
          <a:prstGeom prst="ellipse">
            <a:avLst/>
          </a:prstGeom>
          <a:solidFill>
            <a:srgbClr val="005BAC"/>
          </a:solidFill>
          <a:ln w="12700">
            <a:solidFill>
              <a:srgbClr val="005BA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0632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66344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기업은행 소개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411480" y="44439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정체성과 위치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3291840" y="2761488"/>
            <a:ext cx="1060704" cy="10607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37560" y="30632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798064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목적과 고객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2743200" y="44439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누구를 위한 은행인가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5623560" y="2761488"/>
            <a:ext cx="1060704" cy="10607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30632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129784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서비스 구조</a:t>
            </a:r>
            <a:endParaRPr lang="en-US" sz="1420" dirty="0"/>
          </a:p>
        </p:txBody>
      </p:sp>
      <p:sp>
        <p:nvSpPr>
          <p:cNvPr id="22" name="Text 19"/>
          <p:cNvSpPr/>
          <p:nvPr/>
        </p:nvSpPr>
        <p:spPr>
          <a:xfrm>
            <a:off x="5074920" y="44439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개인·기업·디지털 금융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7955280" y="2761488"/>
            <a:ext cx="1060704" cy="10607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01000" y="30632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461504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시장과 이슈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406640" y="44439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글로벌·스타트업·디지털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10287000" y="2761488"/>
            <a:ext cx="1060704" cy="10607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D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332720" y="306324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9793224" y="407822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전망과 역량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9738360" y="444398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성장 가능성과 취업 준비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777240" y="534924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“기업은행은 왜 존재하는가 → 누구를 위한 은행인가 → 무엇을 제공하는가 → 어떻게 성장할 것인가”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6B7C93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mnt/data/ibk_offici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48635"/>
            <a:ext cx="1645920" cy="3646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4023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640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기업은행 소개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03504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국책은행이면서 동시에 시중은행과 경쟁하는 특수한 금융기관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E9F4FF"/>
          </a:solidFill>
          <a:ln w="12700">
            <a:solidFill>
              <a:srgbClr val="E9F4FF">
                <a:alpha val="0"/>
              </a:srgbClr>
            </a:solidFill>
            <a:prstDash val="solid"/>
          </a:ln>
        </p:spPr>
      </p:sp>
      <p:pic>
        <p:nvPicPr>
          <p:cNvPr id="8" name="Image 1" descr="/mnt/data/ibk_offici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649" y="1499616"/>
            <a:ext cx="2972061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22860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Industrial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Bank of Korea</a:t>
            </a:r>
            <a:endParaRPr lang="en-US" sz="2100" dirty="0"/>
          </a:p>
        </p:txBody>
      </p:sp>
      <p:sp>
        <p:nvSpPr>
          <p:cNvPr id="10" name="Shape 6"/>
          <p:cNvSpPr/>
          <p:nvPr/>
        </p:nvSpPr>
        <p:spPr>
          <a:xfrm>
            <a:off x="658368" y="1901952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8368" y="1901952"/>
            <a:ext cx="73152" cy="1143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32688" y="206654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1961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941832" y="2542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설립 연도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2697480" y="1901952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697480" y="1901952"/>
            <a:ext cx="73152" cy="1143000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971800" y="206654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A3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중구</a:t>
            </a:r>
            <a:endParaRPr lang="en-US" sz="2300" dirty="0"/>
          </a:p>
        </p:txBody>
      </p:sp>
      <p:sp>
        <p:nvSpPr>
          <p:cNvPr id="17" name="Text 13"/>
          <p:cNvSpPr/>
          <p:nvPr/>
        </p:nvSpPr>
        <p:spPr>
          <a:xfrm>
            <a:off x="2980944" y="254203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본점: 서울특별시 중구 을지로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658368" y="3337560"/>
            <a:ext cx="21031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" y="3337560"/>
            <a:ext cx="73152" cy="1143000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32688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58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국책</a:t>
            </a:r>
            <a:endParaRPr lang="en-US" sz="2300" dirty="0"/>
          </a:p>
        </p:txBody>
      </p:sp>
      <p:sp>
        <p:nvSpPr>
          <p:cNvPr id="21" name="Text 17"/>
          <p:cNvSpPr/>
          <p:nvPr/>
        </p:nvSpPr>
        <p:spPr>
          <a:xfrm>
            <a:off x="941832" y="3977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정부가 설립한 정책금융기관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3017520" y="3349632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017520" y="3337560"/>
            <a:ext cx="73152" cy="1143000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91840" y="35021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중소기업</a:t>
            </a:r>
            <a:endParaRPr lang="en-US" sz="2300" dirty="0"/>
          </a:p>
        </p:txBody>
      </p:sp>
      <p:sp>
        <p:nvSpPr>
          <p:cNvPr id="25" name="Text 21"/>
          <p:cNvSpPr/>
          <p:nvPr/>
        </p:nvSpPr>
        <p:spPr>
          <a:xfrm>
            <a:off x="3300984" y="3977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국내 대표 중소기업 전문은행</a:t>
            </a:r>
            <a:endParaRPr lang="en-US" sz="1080" dirty="0"/>
          </a:p>
        </p:txBody>
      </p:sp>
      <p:sp>
        <p:nvSpPr>
          <p:cNvPr id="26" name="Text 22"/>
          <p:cNvSpPr/>
          <p:nvPr/>
        </p:nvSpPr>
        <p:spPr>
          <a:xfrm>
            <a:off x="676656" y="50109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정식 명칭: 중소기업은행</a:t>
            </a:r>
            <a:endParaRPr lang="en-US" sz="1080" dirty="0"/>
          </a:p>
        </p:txBody>
      </p:sp>
      <p:sp>
        <p:nvSpPr>
          <p:cNvPr id="27" name="Text 23"/>
          <p:cNvSpPr/>
          <p:nvPr/>
        </p:nvSpPr>
        <p:spPr>
          <a:xfrm>
            <a:off x="676656" y="535838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일반 시중은행처럼 금융서비스를 제공하지만, 핵심 정체성은 중소기업·소상공인 지원과 국가 경제 성장이라는 정책적 역할에 있다.</a:t>
            </a:r>
            <a:endParaRPr lang="en-US" sz="1240" dirty="0"/>
          </a:p>
        </p:txBody>
      </p:sp>
      <p:sp>
        <p:nvSpPr>
          <p:cNvPr id="28" name="Shape 24"/>
          <p:cNvSpPr/>
          <p:nvPr/>
        </p:nvSpPr>
        <p:spPr>
          <a:xfrm>
            <a:off x="7379208" y="3401568"/>
            <a:ext cx="36118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C9DD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607808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포지션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607808" y="39959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시중은행 경쟁력 + 정책금융 기능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7616952" y="44897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수익성만이 아니라 금융 사각지대 보완까지 수행</a:t>
            </a:r>
            <a:endParaRPr lang="en-US" sz="1020" dirty="0"/>
          </a:p>
        </p:txBody>
      </p:sp>
      <p:sp>
        <p:nvSpPr>
          <p:cNvPr id="32" name="Text 28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6B7C93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pic>
        <p:nvPicPr>
          <p:cNvPr id="3" name="Image 0" descr="/mnt/data/ibk_offici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48635"/>
            <a:ext cx="1645920" cy="3646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4023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640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기업은행이 만들어졌는가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03504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산업화 초기 중소기업의 금융 접근성 문제를 해결하기 위한 제도적 장치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58368" y="1874520"/>
            <a:ext cx="4160520" cy="32461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18541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1960년대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중소기업의 한계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987552" y="3182112"/>
            <a:ext cx="182880" cy="18288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98448" y="31546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자금 부족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87552" y="3685032"/>
            <a:ext cx="182880" cy="18288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8448" y="3657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 접근성 부족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87552" y="4187952"/>
            <a:ext cx="182880" cy="18288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98448" y="4160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담보 부족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65776" y="2880360"/>
            <a:ext cx="1097280" cy="502920"/>
          </a:xfrm>
          <a:prstGeom prst="rightArrow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1874520"/>
            <a:ext cx="5010912" cy="3246120"/>
          </a:xfrm>
          <a:prstGeom prst="roundRect">
            <a:avLst>
              <a:gd name="adj" fmla="val 4225"/>
            </a:avLst>
          </a:prstGeom>
          <a:solidFill>
            <a:srgbClr val="052E5F"/>
          </a:solidFill>
          <a:ln w="12700">
            <a:solidFill>
              <a:srgbClr val="052E5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2212848"/>
            <a:ext cx="4187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중소기업만 전문적으로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지원하는 은행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885432" y="3273552"/>
            <a:ext cx="182880" cy="182880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96328" y="32461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중소기업 성장 지원</a:t>
            </a:r>
            <a:endParaRPr lang="en-US" sz="1240" dirty="0"/>
          </a:p>
        </p:txBody>
      </p:sp>
      <p:sp>
        <p:nvSpPr>
          <p:cNvPr id="20" name="Shape 17"/>
          <p:cNvSpPr/>
          <p:nvPr/>
        </p:nvSpPr>
        <p:spPr>
          <a:xfrm>
            <a:off x="6885432" y="3767328"/>
            <a:ext cx="182880" cy="182880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96328" y="3739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국가 경제 발전</a:t>
            </a:r>
            <a:endParaRPr lang="en-US" sz="1240" dirty="0"/>
          </a:p>
        </p:txBody>
      </p:sp>
      <p:sp>
        <p:nvSpPr>
          <p:cNvPr id="22" name="Shape 19"/>
          <p:cNvSpPr/>
          <p:nvPr/>
        </p:nvSpPr>
        <p:spPr>
          <a:xfrm>
            <a:off x="6885432" y="4261104"/>
            <a:ext cx="182880" cy="182880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96328" y="42336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 사각지대 지원</a:t>
            </a:r>
            <a:endParaRPr lang="en-US" sz="1240" dirty="0"/>
          </a:p>
        </p:txBody>
      </p:sp>
      <p:sp>
        <p:nvSpPr>
          <p:cNvPr id="24" name="Text 21"/>
          <p:cNvSpPr/>
          <p:nvPr/>
        </p:nvSpPr>
        <p:spPr>
          <a:xfrm>
            <a:off x="850392" y="5669280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정책적 목적: 대출 공급, 운전자금·시설투자 지원, 창업 지원을 통해 중소기업 생태계를 키우는 것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6B7C93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mnt/data/ibk_offici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48635"/>
            <a:ext cx="1645920" cy="3646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4023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640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고객층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03504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중소기업을 중심으로 개인 고객과 외국인 고객까지 확장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58368" y="1874520"/>
            <a:ext cx="3246120" cy="3520440"/>
          </a:xfrm>
          <a:prstGeom prst="roundRect">
            <a:avLst>
              <a:gd name="adj" fmla="val 3380"/>
            </a:avLst>
          </a:prstGeom>
          <a:solidFill>
            <a:srgbClr val="F9FBFE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0976" y="2212848"/>
            <a:ext cx="530352" cy="530352"/>
          </a:xfrm>
          <a:prstGeom prst="ellipse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234086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50976" y="2953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중소기업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69264" y="3675888"/>
            <a:ext cx="2606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가장 핵심 고객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제조업체·수출기업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스타트업·소상공인</a:t>
            </a:r>
            <a:endParaRPr lang="en-US" sz="1280" dirty="0"/>
          </a:p>
        </p:txBody>
      </p:sp>
      <p:sp>
        <p:nvSpPr>
          <p:cNvPr id="12" name="Shape 9"/>
          <p:cNvSpPr/>
          <p:nvPr/>
        </p:nvSpPr>
        <p:spPr>
          <a:xfrm>
            <a:off x="4416552" y="1874520"/>
            <a:ext cx="3246120" cy="3520440"/>
          </a:xfrm>
          <a:prstGeom prst="roundRect">
            <a:avLst>
              <a:gd name="adj" fmla="val 3380"/>
            </a:avLst>
          </a:prstGeom>
          <a:solidFill>
            <a:srgbClr val="F9FBFE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9160" y="2212848"/>
            <a:ext cx="530352" cy="530352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234086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9160" y="2953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개인 고객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727448" y="3675888"/>
            <a:ext cx="2606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개인 금융 비중 증가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직장인·청년·대학생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주부 등 일반 고객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8174736" y="1874520"/>
            <a:ext cx="3246120" cy="3520440"/>
          </a:xfrm>
          <a:prstGeom prst="roundRect">
            <a:avLst>
              <a:gd name="adj" fmla="val 3380"/>
            </a:avLst>
          </a:prstGeom>
          <a:solidFill>
            <a:srgbClr val="F9FBFE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67344" y="2212848"/>
            <a:ext cx="530352" cy="53035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67344" y="234086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467344" y="2953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외국인 고객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485632" y="3675888"/>
            <a:ext cx="2606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다국어 앱 지원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해외송금 서비스</a:t>
            </a:r>
            <a:endParaRPr lang="en-US" sz="1280" dirty="0"/>
          </a:p>
          <a:p>
            <a:pPr marL="0" indent="0">
              <a:buNone/>
            </a:pPr>
            <a:r>
              <a:rPr lang="en-US" sz="128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외국인 특화 금융</a:t>
            </a:r>
            <a:endParaRPr lang="en-US" sz="1280" dirty="0"/>
          </a:p>
        </p:txBody>
      </p:sp>
      <p:sp>
        <p:nvSpPr>
          <p:cNvPr id="22" name="Shape 19"/>
          <p:cNvSpPr/>
          <p:nvPr/>
        </p:nvSpPr>
        <p:spPr>
          <a:xfrm>
            <a:off x="8193024" y="4828032"/>
            <a:ext cx="3200400" cy="694944"/>
          </a:xfrm>
          <a:prstGeom prst="roundRect">
            <a:avLst>
              <a:gd name="adj" fmla="val 15789"/>
            </a:avLst>
          </a:prstGeom>
          <a:solidFill>
            <a:srgbClr val="052E5F"/>
          </a:solidFill>
          <a:ln w="12700">
            <a:solidFill>
              <a:srgbClr val="052E5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75904" y="495604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D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i-ONE Bank Global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357616" y="515721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15개 언어 지원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04672" y="5870448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고객층 확장은 기업은행의 성장 축을 기업금융에서 디지털·글로벌 금융으로 넓히는 과정이다.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05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6B7C93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modern_fintech_technology_concept_scene_w_batch_2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E5F">
              <a:alpha val="70000"/>
            </a:srgbClr>
          </a:solidFill>
          <a:ln w="12700">
            <a:solidFill>
              <a:srgbClr val="052E5F">
                <a:alpha val="0"/>
              </a:srgbClr>
            </a:solidFill>
            <a:prstDash val="solid"/>
          </a:ln>
        </p:spPr>
      </p:sp>
      <p:pic>
        <p:nvPicPr>
          <p:cNvPr id="4" name="Image 1" descr="/mnt/data/ibk_officia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426267"/>
            <a:ext cx="1600200" cy="3544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1792" y="4023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D1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594360" y="640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개인 금융과 디지털 서비스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603504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7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모바일 앱 중심으로 예금·대출·카드·해외송금을 연결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58368" y="1874520"/>
            <a:ext cx="4617720" cy="3401568"/>
          </a:xfrm>
          <a:prstGeom prst="roundRect">
            <a:avLst>
              <a:gd name="adj" fmla="val 4301"/>
            </a:avLst>
          </a:prstGeom>
          <a:solidFill>
            <a:srgbClr val="052E5F">
              <a:alpha val="94000"/>
            </a:srgbClr>
          </a:solidFill>
          <a:ln w="1016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78408" y="2212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개인 금융 상품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960120" y="2788920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60120" y="2843784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예금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901952" y="281635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정기예금 · 자유예금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60120" y="3447288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0120" y="350215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적금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901952" y="3474720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IBK탄소제로적금 · 청년도약계좌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60120" y="4105656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60120" y="4160520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대출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901952" y="4133088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주택담보 · 전세자금 · 신용대출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12280" y="1965960"/>
            <a:ext cx="4370832" cy="3200400"/>
          </a:xfrm>
          <a:prstGeom prst="roundRect">
            <a:avLst>
              <a:gd name="adj" fmla="val 4571"/>
            </a:avLst>
          </a:prstGeom>
          <a:solidFill>
            <a:srgbClr val="052E5F">
              <a:alpha val="92000"/>
            </a:srgbClr>
          </a:solidFill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87184" y="2331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i-ONE Bank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7205472" y="2852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계좌조회 · 송금 · 대출신청 · 예적금 가입 · 카드 관리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223760" y="3474720"/>
            <a:ext cx="3246120" cy="0"/>
          </a:xfrm>
          <a:prstGeom prst="line">
            <a:avLst/>
          </a:prstGeom>
          <a:noFill/>
          <a:ln w="15240">
            <a:solidFill>
              <a:srgbClr val="5AC5FF">
                <a:alpha val="75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205472" y="3776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7D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i-ONE Bank Global</a:t>
            </a:r>
            <a:endParaRPr lang="en-US" sz="1550" dirty="0"/>
          </a:p>
        </p:txBody>
      </p:sp>
      <p:sp>
        <p:nvSpPr>
          <p:cNvPr id="24" name="Text 20"/>
          <p:cNvSpPr/>
          <p:nvPr/>
        </p:nvSpPr>
        <p:spPr>
          <a:xfrm>
            <a:off x="7205472" y="41879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해외송금 · 다국어 지원 · 모바일 금융 서비스</a:t>
            </a:r>
            <a:endParaRPr lang="en-US" sz="1140" dirty="0"/>
          </a:p>
        </p:txBody>
      </p:sp>
      <p:sp>
        <p:nvSpPr>
          <p:cNvPr id="25" name="Text 21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8E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8E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D8E8FF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pic>
        <p:nvPicPr>
          <p:cNvPr id="3" name="Image 0" descr="/mnt/data/ibk_offici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48635"/>
            <a:ext cx="1645920" cy="3646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4023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640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 금융 서비스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03504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기업은행의 가장 강력한 분야는 중소기업 대상 금융 지원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5800" y="1920240"/>
            <a:ext cx="3794760" cy="3474720"/>
          </a:xfrm>
          <a:prstGeom prst="roundRect">
            <a:avLst>
              <a:gd name="adj" fmla="val 4211"/>
            </a:avLst>
          </a:prstGeom>
          <a:solidFill>
            <a:srgbClr val="052E5F"/>
          </a:solidFill>
          <a:ln w="12700">
            <a:solidFill>
              <a:srgbClr val="052E5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중소기업 금융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33272" y="27889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운전자금 · 시설자금 · 수출금융 · 창업지원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24128" y="3730752"/>
            <a:ext cx="1828800" cy="0"/>
          </a:xfrm>
          <a:prstGeom prst="line">
            <a:avLst/>
          </a:prstGeom>
          <a:noFill/>
          <a:ln w="25400">
            <a:solidFill>
              <a:srgbClr val="00A3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404164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“기업의 성장 단계별 자금 수요를 맞춤형으로 지원”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4892040" y="1920240"/>
            <a:ext cx="2761488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920240"/>
            <a:ext cx="64008" cy="1389888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2093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운전자금 대출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5120640" y="2441448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일상적인 기업 운영자금 조달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7927848" y="1920240"/>
            <a:ext cx="2761488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27848" y="1920240"/>
            <a:ext cx="64008" cy="138988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56448" y="2093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시설자금 대출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8156448" y="2441448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설비·공장·투자 확대 지원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4892040" y="3675888"/>
            <a:ext cx="2761488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92040" y="3675888"/>
            <a:ext cx="64008" cy="1389888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20640" y="3849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수출금융</a:t>
            </a:r>
            <a:endParaRPr lang="en-US" sz="1420" dirty="0"/>
          </a:p>
        </p:txBody>
      </p:sp>
      <p:sp>
        <p:nvSpPr>
          <p:cNvPr id="23" name="Text 20"/>
          <p:cNvSpPr/>
          <p:nvPr/>
        </p:nvSpPr>
        <p:spPr>
          <a:xfrm>
            <a:off x="5120640" y="4197096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해외 거래와 수출기업 지원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7927848" y="3675888"/>
            <a:ext cx="2761488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27848" y="3675888"/>
            <a:ext cx="64008" cy="138988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56448" y="3849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ESG 금융</a:t>
            </a:r>
            <a:endParaRPr lang="en-US" sz="1420" dirty="0"/>
          </a:p>
        </p:txBody>
      </p:sp>
      <p:sp>
        <p:nvSpPr>
          <p:cNvPr id="27" name="Text 24"/>
          <p:cNvSpPr/>
          <p:nvPr/>
        </p:nvSpPr>
        <p:spPr>
          <a:xfrm>
            <a:off x="8156448" y="4197096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친환경·혁신기술 기업 지원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4956048" y="5440680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기업은행의 차별성은 단순 대출 공급을 넘어 기업 컨설팅, 성장 지원, 정책금융 역할을 결합한다는 점이다.</a:t>
            </a:r>
            <a:endParaRPr lang="en-US" sz="1240" dirty="0"/>
          </a:p>
        </p:txBody>
      </p:sp>
      <p:sp>
        <p:nvSpPr>
          <p:cNvPr id="29" name="Text 26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07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6B7C93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modern_startup_office_coworking_scene_overall_w_batch_3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E5F">
              <a:alpha val="68000"/>
            </a:srgbClr>
          </a:solidFill>
          <a:ln w="12700">
            <a:solidFill>
              <a:srgbClr val="052E5F">
                <a:alpha val="0"/>
              </a:srgbClr>
            </a:solidFill>
            <a:prstDash val="solid"/>
          </a:ln>
        </p:spPr>
      </p:sp>
      <p:pic>
        <p:nvPicPr>
          <p:cNvPr id="4" name="Image 1" descr="/mnt/data/ibk_officia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426267"/>
            <a:ext cx="1600200" cy="3544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1792" y="4023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D1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594360" y="640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스타트업 육성 플랫폼: IBK창공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603504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7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대출을 넘어 투자·멘토링·공간·컨설팅까지 제공하는 성장 지원 구조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58368" y="1874520"/>
            <a:ext cx="4389120" cy="3291840"/>
          </a:xfrm>
          <a:prstGeom prst="roundRect">
            <a:avLst>
              <a:gd name="adj" fmla="val 4444"/>
            </a:avLst>
          </a:prstGeom>
          <a:solidFill>
            <a:srgbClr val="052E5F">
              <a:alpha val="94000"/>
            </a:srgbClr>
          </a:solidFill>
          <a:ln w="1016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87552" y="2212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지원 패키지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1005840" y="2880360"/>
            <a:ext cx="1371600" cy="475488"/>
          </a:xfrm>
          <a:prstGeom prst="roundRect">
            <a:avLst>
              <a:gd name="adj" fmla="val 19231"/>
            </a:avLst>
          </a:prstGeom>
          <a:solidFill>
            <a:srgbClr val="00A3E0">
              <a:alpha val="92000"/>
            </a:srgbClr>
          </a:solidFill>
          <a:ln w="889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97280" y="30266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투자 연계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2697480" y="2880360"/>
            <a:ext cx="1371600" cy="475488"/>
          </a:xfrm>
          <a:prstGeom prst="roundRect">
            <a:avLst>
              <a:gd name="adj" fmla="val 19231"/>
            </a:avLst>
          </a:prstGeom>
          <a:solidFill>
            <a:srgbClr val="00A3E0">
              <a:alpha val="92000"/>
            </a:srgbClr>
          </a:solidFill>
          <a:ln w="889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88920" y="30449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멘토링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1005840" y="3721608"/>
            <a:ext cx="1371600" cy="475488"/>
          </a:xfrm>
          <a:prstGeom prst="roundRect">
            <a:avLst>
              <a:gd name="adj" fmla="val 19231"/>
            </a:avLst>
          </a:prstGeom>
          <a:solidFill>
            <a:srgbClr val="00A3E0">
              <a:alpha val="92000"/>
            </a:srgbClr>
          </a:solidFill>
          <a:ln w="889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97280" y="38679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사무공간 제공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697480" y="3721608"/>
            <a:ext cx="1371600" cy="475488"/>
          </a:xfrm>
          <a:prstGeom prst="roundRect">
            <a:avLst>
              <a:gd name="adj" fmla="val 19231"/>
            </a:avLst>
          </a:prstGeom>
          <a:solidFill>
            <a:srgbClr val="00A3E0">
              <a:alpha val="92000"/>
            </a:srgbClr>
          </a:solidFill>
          <a:ln w="889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88920" y="38679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컨설팅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996696" y="4572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초기 기업의 금융·경영·네트워크 문제를 종합적으로 지원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6656832" y="1920240"/>
            <a:ext cx="4343400" cy="3154680"/>
          </a:xfrm>
          <a:prstGeom prst="roundRect">
            <a:avLst>
              <a:gd name="adj" fmla="val 4638"/>
            </a:avLst>
          </a:prstGeom>
          <a:solidFill>
            <a:srgbClr val="052E5F">
              <a:alpha val="97000"/>
            </a:srgbClr>
          </a:solidFill>
          <a:ln w="1016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95160" y="2249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2025년 주요 포인트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995159" y="2505456"/>
            <a:ext cx="312488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3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전국 6개 센터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7022592" y="32278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혁신 스타트업 선발·육성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995160" y="3497580"/>
            <a:ext cx="3217352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8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28개 스타트업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7022592" y="41513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월드IT쇼 기술 홍보 지원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8E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8E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08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D8E8FF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mnt/data/ibk_offici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48635"/>
            <a:ext cx="1645920" cy="3646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4023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640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최근 주요 이슈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03504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정책금융 확대와 디지털 전환이 동시에 진행 중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58368" y="1783080"/>
            <a:ext cx="4498848" cy="3794760"/>
          </a:xfrm>
          <a:prstGeom prst="roundRect">
            <a:avLst>
              <a:gd name="adj" fmla="val 3855"/>
            </a:avLst>
          </a:prstGeom>
          <a:solidFill>
            <a:srgbClr val="052E5F"/>
          </a:solidFill>
          <a:ln w="12700">
            <a:solidFill>
              <a:srgbClr val="052E5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1488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IBK가치성장대출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7552" y="277063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A3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1조원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2702052" y="2897723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smtClean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</a:t>
            </a:r>
            <a:r>
              <a:rPr lang="ko-KR" altLang="en-US" sz="2400" dirty="0" err="1" smtClean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총규모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87552" y="367588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822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최대 1.3%p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875942" y="3675888"/>
            <a:ext cx="13075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금리 감면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005840" y="4617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대상: 수출기업 · ESG 기업 · 기술혁신 기업 · 디지털 전환 기업 · 스타트업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577840" y="1828800"/>
            <a:ext cx="530352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7840" y="1828800"/>
            <a:ext cx="64008" cy="978408"/>
          </a:xfrm>
          <a:prstGeom prst="rect">
            <a:avLst/>
          </a:prstGeom>
          <a:solidFill>
            <a:srgbClr val="00A3E0"/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2002536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스타트업 육성 확대</a:t>
            </a:r>
            <a:endParaRPr lang="en-US" sz="1420" dirty="0"/>
          </a:p>
        </p:txBody>
      </p:sp>
      <p:sp>
        <p:nvSpPr>
          <p:cNvPr id="17" name="Text 14"/>
          <p:cNvSpPr/>
          <p:nvPr/>
        </p:nvSpPr>
        <p:spPr>
          <a:xfrm>
            <a:off x="5806440" y="2350008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IBK창공을 통한 혁신 스타트업 지원 강화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5577840" y="3127248"/>
            <a:ext cx="530352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77840" y="3127248"/>
            <a:ext cx="64008" cy="978408"/>
          </a:xfrm>
          <a:prstGeom prst="rect">
            <a:avLst/>
          </a:prstGeom>
          <a:solidFill>
            <a:srgbClr val="005BAC"/>
          </a:solidFill>
          <a:ln w="12700">
            <a:solidFill>
              <a:srgbClr val="005BA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3300984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디지털 금융 강화</a:t>
            </a:r>
            <a:endParaRPr lang="en-US" sz="1420" dirty="0"/>
          </a:p>
        </p:txBody>
      </p:sp>
      <p:sp>
        <p:nvSpPr>
          <p:cNvPr id="21" name="Text 18"/>
          <p:cNvSpPr/>
          <p:nvPr/>
        </p:nvSpPr>
        <p:spPr>
          <a:xfrm>
            <a:off x="5806440" y="3648456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모바일 금융 확대, AI 서비스 도입, 외국인 금융 플랫폼 강화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5577840" y="4425696"/>
            <a:ext cx="5303520" cy="978408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4425696"/>
            <a:ext cx="64008" cy="978408"/>
          </a:xfrm>
          <a:prstGeom prst="rect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4599432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정책금융 역할 강화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5806440" y="4946904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수출·ESG·기술혁신·디지털 전환 분야 자금 공급 확대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09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6B7C93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_tech_global_logistics_and_batch_4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E5F">
              <a:alpha val="77000"/>
            </a:srgbClr>
          </a:solidFill>
          <a:ln w="12700">
            <a:solidFill>
              <a:srgbClr val="052E5F">
                <a:alpha val="0"/>
              </a:srgbClr>
            </a:solidFill>
            <a:prstDash val="solid"/>
          </a:ln>
        </p:spPr>
      </p:sp>
      <p:pic>
        <p:nvPicPr>
          <p:cNvPr id="4" name="Image 1" descr="/mnt/data/ibk_officia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426267"/>
            <a:ext cx="1600200" cy="3544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1792" y="4023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D1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594360" y="640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글로벌 경쟁력 확대와 시장 분석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603504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7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해외 진출 한국 기업을 지원하는 중소기업 금융 네트워크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85800" y="1856232"/>
            <a:ext cx="4846320" cy="3456432"/>
          </a:xfrm>
          <a:prstGeom prst="roundRect">
            <a:avLst>
              <a:gd name="adj" fmla="val 4233"/>
            </a:avLst>
          </a:prstGeom>
          <a:solidFill>
            <a:srgbClr val="052E5F">
              <a:alpha val="96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87552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해외 네트워크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1005840" y="288036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97280" y="2916936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미국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340864" y="288036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32304" y="2916936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중국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75888" y="288036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67328" y="2916936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베트남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1005840" y="3575304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97280" y="361188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인도네시아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340864" y="3575304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432304" y="361188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2E5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유럽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005840" y="4572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목표: 해외 진출 한국 기업의 금융 접근성과 사업 확장을 지원</a:t>
            </a:r>
            <a:endParaRPr lang="en-US" sz="1180" dirty="0"/>
          </a:p>
        </p:txBody>
      </p:sp>
      <p:sp>
        <p:nvSpPr>
          <p:cNvPr id="21" name="Shape 17"/>
          <p:cNvSpPr/>
          <p:nvPr/>
        </p:nvSpPr>
        <p:spPr>
          <a:xfrm>
            <a:off x="6492240" y="1874520"/>
            <a:ext cx="4846320" cy="3438144"/>
          </a:xfrm>
          <a:prstGeom prst="roundRect">
            <a:avLst>
              <a:gd name="adj" fmla="val 4255"/>
            </a:avLst>
          </a:prstGeom>
          <a:solidFill>
            <a:srgbClr val="052E5F">
              <a:alpha val="95000"/>
            </a:srgbClr>
          </a:solidFill>
          <a:ln w="1016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21424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경쟁 은행 대비 차별점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6803136" y="2670048"/>
            <a:ext cx="3794760" cy="0"/>
          </a:xfrm>
          <a:prstGeom prst="line">
            <a:avLst/>
          </a:prstGeom>
          <a:noFill/>
          <a:ln w="12700">
            <a:solidFill>
              <a:srgbClr val="CFE6FF">
                <a:alpha val="7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39712" y="296265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시중은행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028432" y="296265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수익 중심 · 개인금융 비중 높음</a:t>
            </a:r>
            <a:endParaRPr lang="en-US" sz="1090" dirty="0"/>
          </a:p>
        </p:txBody>
      </p:sp>
      <p:sp>
        <p:nvSpPr>
          <p:cNvPr id="26" name="Text 22"/>
          <p:cNvSpPr/>
          <p:nvPr/>
        </p:nvSpPr>
        <p:spPr>
          <a:xfrm>
            <a:off x="6839712" y="35570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3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기업은행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8028432" y="35570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중소기업 지원 중심 · 정책금융 수행</a:t>
            </a:r>
            <a:endParaRPr lang="en-US" sz="1090" dirty="0"/>
          </a:p>
        </p:txBody>
      </p:sp>
      <p:sp>
        <p:nvSpPr>
          <p:cNvPr id="28" name="Text 24"/>
          <p:cNvSpPr/>
          <p:nvPr/>
        </p:nvSpPr>
        <p:spPr>
          <a:xfrm>
            <a:off x="6839712" y="41513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강점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8028432" y="415137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기업금융 전문성 · 중소기업 네트워크</a:t>
            </a:r>
            <a:endParaRPr lang="en-US" sz="1090" dirty="0"/>
          </a:p>
        </p:txBody>
      </p:sp>
      <p:sp>
        <p:nvSpPr>
          <p:cNvPr id="30" name="Text 26"/>
          <p:cNvSpPr/>
          <p:nvPr/>
        </p:nvSpPr>
        <p:spPr>
          <a:xfrm>
            <a:off x="6839712" y="48463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국내 중소기업 금융 분야에서 강력한 경쟁력을 가진 은행으로 평가</a:t>
            </a:r>
            <a:endParaRPr lang="en-US" sz="1140" dirty="0"/>
          </a:p>
        </p:txBody>
      </p:sp>
      <p:sp>
        <p:nvSpPr>
          <p:cNvPr id="31" name="Text 27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8E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8E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D8E8FF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>
                <a:alpha val="0"/>
              </a:srgbClr>
            </a:solidFill>
            <a:prstDash val="solid"/>
          </a:ln>
        </p:spPr>
      </p:sp>
      <p:pic>
        <p:nvPicPr>
          <p:cNvPr id="3" name="Image 0" descr="/mnt/data/ibk_officia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48635"/>
            <a:ext cx="1645920" cy="3646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4023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640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의견 및 향후 전망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03504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0708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기업금융 강점에 디지털·글로벌 역량을 결합하면 지속 성장 가능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85800" y="1828800"/>
            <a:ext cx="5257800" cy="333756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1945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5BAC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긍정 요소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1024128" y="2843784"/>
            <a:ext cx="164592" cy="1645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25880" y="2807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스타트업 증가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1024128" y="3374136"/>
            <a:ext cx="164592" cy="1645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25880" y="3337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디지털 금융 성장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1024128" y="4112026"/>
            <a:ext cx="164592" cy="1645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25880" y="4132163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중소기업 금융 수요 증가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6272784" y="1828800"/>
            <a:ext cx="5257800" cy="333756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0160">
            <a:solidFill>
              <a:srgbClr val="DCEBF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21945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64B4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과제</a:t>
            </a:r>
            <a:endParaRPr lang="en-US" sz="3200" dirty="0"/>
          </a:p>
        </p:txBody>
      </p:sp>
      <p:sp>
        <p:nvSpPr>
          <p:cNvPr id="17" name="Shape 14"/>
          <p:cNvSpPr/>
          <p:nvPr/>
        </p:nvSpPr>
        <p:spPr>
          <a:xfrm>
            <a:off x="6611112" y="2843784"/>
            <a:ext cx="164592" cy="164592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12864" y="28072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핀테크 기업과 경쟁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6611112" y="3615065"/>
            <a:ext cx="164592" cy="164592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12864" y="3583061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인터넷전문은행 성장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6583680" y="4386140"/>
            <a:ext cx="164592" cy="164592"/>
          </a:xfrm>
          <a:prstGeom prst="ellipse">
            <a:avLst/>
          </a:prstGeom>
          <a:solidFill>
            <a:srgbClr val="D64B4B"/>
          </a:solidFill>
          <a:ln w="12700">
            <a:solidFill>
              <a:srgbClr val="D64B4B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12864" y="4367543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글로벌 경기 둔화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1234440" y="5577840"/>
            <a:ext cx="9692640" cy="585216"/>
          </a:xfrm>
          <a:prstGeom prst="roundRect">
            <a:avLst>
              <a:gd name="adj" fmla="val 21875"/>
            </a:avLst>
          </a:prstGeom>
          <a:solidFill>
            <a:srgbClr val="052E5F"/>
          </a:solidFill>
          <a:ln w="12700">
            <a:solidFill>
              <a:srgbClr val="052E5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81328" y="5760720"/>
            <a:ext cx="9189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전망: 기업금융 전문성 + 디지털 금융 + 글로벌 시장 확대가 결합될 때 성장 여지가 크다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C9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11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6B7C93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modern_corporate_office_montage_scene_in_c_batch_5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E5F">
              <a:alpha val="60000"/>
            </a:srgbClr>
          </a:solidFill>
          <a:ln w="12700">
            <a:solidFill>
              <a:srgbClr val="052E5F">
                <a:alpha val="0"/>
              </a:srgbClr>
            </a:solidFill>
            <a:prstDash val="solid"/>
          </a:ln>
        </p:spPr>
      </p:sp>
      <p:pic>
        <p:nvPicPr>
          <p:cNvPr id="4" name="Image 1" descr="/mnt/data/ibk_official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426267"/>
            <a:ext cx="1600200" cy="3544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1792" y="402336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FD1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594360" y="640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취업을 위한 역량과 결론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603504" y="1097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7E7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 전문성에 디지털·상담·문제해결 역량을 결합해야 한다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77240" y="1938528"/>
            <a:ext cx="3200400" cy="841248"/>
          </a:xfrm>
          <a:prstGeom prst="roundRect">
            <a:avLst>
              <a:gd name="adj" fmla="val 13043"/>
            </a:avLst>
          </a:prstGeom>
          <a:solidFill>
            <a:srgbClr val="052E5F">
              <a:alpha val="92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78408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 지식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978408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경제 개념 · 금리 · 환율 · 대출 구조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480560" y="1938528"/>
            <a:ext cx="3200400" cy="841248"/>
          </a:xfrm>
          <a:prstGeom prst="roundRect">
            <a:avLst>
              <a:gd name="adj" fmla="val 13043"/>
            </a:avLst>
          </a:prstGeom>
          <a:solidFill>
            <a:srgbClr val="052E5F">
              <a:alpha val="92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81728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디지털 역량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681728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· 빅데이터 · 디지털 금융 이해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83880" y="1938528"/>
            <a:ext cx="3200400" cy="841248"/>
          </a:xfrm>
          <a:prstGeom prst="roundRect">
            <a:avLst>
              <a:gd name="adj" fmla="val 13043"/>
            </a:avLst>
          </a:prstGeom>
          <a:solidFill>
            <a:srgbClr val="052E5F">
              <a:alpha val="92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385048" y="21031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의사소통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385048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고객 상담 · 기업 컨설팅 · 영업 수행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77240" y="2990088"/>
            <a:ext cx="3200400" cy="841248"/>
          </a:xfrm>
          <a:prstGeom prst="roundRect">
            <a:avLst>
              <a:gd name="adj" fmla="val 13043"/>
            </a:avLst>
          </a:prstGeom>
          <a:solidFill>
            <a:srgbClr val="052E5F">
              <a:alpha val="92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78408" y="31546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 해결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978408" y="3447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 고객의 금융 문제 분석과 해결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480560" y="2990088"/>
            <a:ext cx="3200400" cy="841248"/>
          </a:xfrm>
          <a:prstGeom prst="roundRect">
            <a:avLst>
              <a:gd name="adj" fmla="val 13043"/>
            </a:avLst>
          </a:prstGeom>
          <a:solidFill>
            <a:srgbClr val="052E5F">
              <a:alpha val="92000"/>
            </a:srgbClr>
          </a:solidFill>
          <a:ln w="1016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81728" y="31546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윤리·협업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681728" y="3447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고객 중심 사고 · 전문성 · 도전 정신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60120" y="5001768"/>
            <a:ext cx="10195560" cy="868680"/>
          </a:xfrm>
          <a:prstGeom prst="roundRect">
            <a:avLst>
              <a:gd name="adj" fmla="val 16842"/>
            </a:avLst>
          </a:prstGeom>
          <a:solidFill>
            <a:srgbClr val="052E5F"/>
          </a:solidFill>
          <a:ln w="1016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298448" y="5257800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3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결론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2121408" y="5257800"/>
            <a:ext cx="8394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기업은행은 대한민국 중소기업의 성장을 지원하는 정책금융기관이며, 디지털 금융과 글로벌 확대를 통해 경쟁력을 강화할 것으로 보인다.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960120" y="614476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DCEBF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2025년 청년인턴 채용에서도 금융일반과 디지털·IT 분야를 별도로 모집하며 디지털 역량을 강조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9436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8E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IBK 기업은행 분석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1183112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8E8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12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0808208" y="6583680"/>
            <a:ext cx="274320" cy="0"/>
          </a:xfrm>
          <a:prstGeom prst="line">
            <a:avLst/>
          </a:prstGeom>
          <a:noFill/>
          <a:ln w="10160">
            <a:solidFill>
              <a:srgbClr val="D8E8FF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1140</Words>
  <Application>Microsoft Office PowerPoint</Application>
  <PresentationFormat>사용자 지정</PresentationFormat>
  <Paragraphs>231</Paragraphs>
  <Slides>12</Slides>
  <Notes>12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기업은행(IBK) 분석</dc:title>
  <dc:subject>IBK기업은행 발표자료</dc:subject>
  <dc:creator>OpenAI</dc:creator>
  <cp:lastModifiedBy>821053490537</cp:lastModifiedBy>
  <cp:revision>3</cp:revision>
  <dcterms:created xsi:type="dcterms:W3CDTF">2026-06-02T06:07:23Z</dcterms:created>
  <dcterms:modified xsi:type="dcterms:W3CDTF">2026-06-02T07:47:10Z</dcterms:modified>
</cp:coreProperties>
</file>